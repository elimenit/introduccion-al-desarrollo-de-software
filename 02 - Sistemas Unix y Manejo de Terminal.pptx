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Montserrat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Roboto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9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9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5.xml"/><Relationship Id="rId42" Type="http://schemas.openxmlformats.org/officeDocument/2006/relationships/font" Target="fonts/RobotoMono-regular.fntdata"/><Relationship Id="rId41" Type="http://schemas.openxmlformats.org/officeDocument/2006/relationships/font" Target="fonts/Lato-boldItalic.fntdata"/><Relationship Id="rId22" Type="http://schemas.openxmlformats.org/officeDocument/2006/relationships/slide" Target="slides/slide17.xml"/><Relationship Id="rId44" Type="http://schemas.openxmlformats.org/officeDocument/2006/relationships/font" Target="fonts/RobotoMono-italic.fntdata"/><Relationship Id="rId21" Type="http://schemas.openxmlformats.org/officeDocument/2006/relationships/slide" Target="slides/slide16.xml"/><Relationship Id="rId43" Type="http://schemas.openxmlformats.org/officeDocument/2006/relationships/font" Target="fonts/RobotoMon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bold.fntdata"/><Relationship Id="rId12" Type="http://schemas.openxmlformats.org/officeDocument/2006/relationships/slide" Target="slides/slide7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2.xml"/><Relationship Id="rId39" Type="http://schemas.openxmlformats.org/officeDocument/2006/relationships/font" Target="fonts/Lato-bold.fntdata"/><Relationship Id="rId16" Type="http://schemas.openxmlformats.org/officeDocument/2006/relationships/slide" Target="slides/slide11.xml"/><Relationship Id="rId38" Type="http://schemas.openxmlformats.org/officeDocument/2006/relationships/font" Target="fonts/La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Basar el contenido de acá https://drive.google.com/drive/u/0/folders/1W4mROWCci9YUKb3_qHkVB6xcNG9GCyR3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1bada61cd1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1bada61cd1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</a:t>
            </a:r>
            <a:r>
              <a:rPr lang="en-GB"/>
              <a:t>mpezar a introducir el concepto de backend y frontend sin mucho detalle.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1bc3b5ba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1bc3b5ba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1bc3b5bad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1bc3b5bad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1bc3b5bad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1bc3b5bad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e3efea8a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e3efea8a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1bc3b5bad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1bc3b5bad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CD, PWD, LS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1bc3b5bad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1bc3b5bad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CD, PWD, 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Aclaración de nombres de archivos con espacios o caracteres especiales (escapar)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Explicación Archivos ocultos (Cmd + Shift * . en Mac’s Finder)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1bada61cd1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1bada61cd1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CAT, RM, MV, CP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Muchas veces son “multiuso”: &lt;destino&gt; en mv y cp puede ser el nombre del archivo final o el directorio donde lo quiero y que tenga el mismo nombre que el original.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1bada61cd1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1bada61cd1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MKDIR, MVDIR, MV, CP y RM con -r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1bada61cd1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1bada61cd1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 nuevo, aclaración de escapar caracteres especiales.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1bada61cd1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1bada61cd1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Por ejemplo: grupo everyone o admin o etc. El admin suele tener permiso a todo porque está en everyone pero no everyone tiene permiso a las cosas que están en admin.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1bada61cd1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1bada61cd1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1bada61cd1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1bada61cd1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70eff00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770eff00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1bada61cd1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1bada61cd1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1bada61cd1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1bada61cd1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1bada61cd1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1bada61cd1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Explicar apt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1c088288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1c088288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Explicar apt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edf4b42a1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edf4b42a1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df4b42a1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df4b42a1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1c15680614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1c15680614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392f60bb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6392f60bb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392f60b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6392f60b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392f60bb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6392f60bb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6392f60bb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6392f60bb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392f60bb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6392f60bb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392f60b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6392f60b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4"/>
          <p:cNvSpPr txBox="1"/>
          <p:nvPr>
            <p:ph idx="2" type="title"/>
          </p:nvPr>
        </p:nvSpPr>
        <p:spPr>
          <a:xfrm>
            <a:off x="1220150" y="4339400"/>
            <a:ext cx="292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1" name="Google Shape;5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" name="Google Shape;57;p5"/>
          <p:cNvSpPr txBox="1"/>
          <p:nvPr>
            <p:ph idx="3" type="title"/>
          </p:nvPr>
        </p:nvSpPr>
        <p:spPr>
          <a:xfrm>
            <a:off x="1220150" y="4339400"/>
            <a:ext cx="292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6"/>
          <p:cNvSpPr txBox="1"/>
          <p:nvPr>
            <p:ph idx="2" type="title"/>
          </p:nvPr>
        </p:nvSpPr>
        <p:spPr>
          <a:xfrm>
            <a:off x="1220150" y="4339400"/>
            <a:ext cx="292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7" name="Google Shape;6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" name="Google Shape;70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" name="Google Shape;72;p7"/>
          <p:cNvSpPr txBox="1"/>
          <p:nvPr>
            <p:ph idx="2" type="title"/>
          </p:nvPr>
        </p:nvSpPr>
        <p:spPr>
          <a:xfrm>
            <a:off x="1220150" y="4339400"/>
            <a:ext cx="292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5" name="Google Shape;75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3" name="Google Shape;103;p9"/>
          <p:cNvSpPr txBox="1"/>
          <p:nvPr>
            <p:ph idx="3" type="title"/>
          </p:nvPr>
        </p:nvSpPr>
        <p:spPr>
          <a:xfrm>
            <a:off x="1220150" y="4339400"/>
            <a:ext cx="292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6" name="Google Shape;106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9" name="Google Shape;10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2" name="Google Shape;112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1" name="Google Shape;131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2" name="Google Shape;13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1"/>
          <p:cNvSpPr txBox="1"/>
          <p:nvPr>
            <p:ph idx="2" type="title"/>
          </p:nvPr>
        </p:nvSpPr>
        <p:spPr>
          <a:xfrm>
            <a:off x="341475" y="4302175"/>
            <a:ext cx="292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rmato código o consola">
  <p:cSld name="CUSTOM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/>
          <p:nvPr>
            <p:ph type="title"/>
          </p:nvPr>
        </p:nvSpPr>
        <p:spPr>
          <a:xfrm>
            <a:off x="311700" y="445025"/>
            <a:ext cx="20787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None/>
              <a:defRPr sz="13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1">
  <p:cSld name="TITLE_AND_BODY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40" name="Google Shape;140;p1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" name="Google Shape;142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4" name="Google Shape;14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ason.gmu.edu/~montecin/UNIXpermiss.ht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xkcd.com/149/" TargetMode="External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linuxhowtos.org/System/procstat.htm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ctrTitle"/>
          </p:nvPr>
        </p:nvSpPr>
        <p:spPr>
          <a:xfrm>
            <a:off x="3537150" y="1578400"/>
            <a:ext cx="50175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Sistemas Unix</a:t>
            </a:r>
            <a:endParaRPr/>
          </a:p>
        </p:txBody>
      </p:sp>
      <p:sp>
        <p:nvSpPr>
          <p:cNvPr id="150" name="Google Shape;150;p15"/>
          <p:cNvSpPr txBox="1"/>
          <p:nvPr>
            <p:ph idx="1" type="subTitle"/>
          </p:nvPr>
        </p:nvSpPr>
        <p:spPr>
          <a:xfrm>
            <a:off x="5083950" y="3924925"/>
            <a:ext cx="3470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TB022 - Esteban - Riesgo - Kristal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Por qué no sólo usamos la interfaz y ya?</a:t>
            </a:r>
            <a:endParaRPr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1297500" y="1282850"/>
            <a:ext cx="7575900" cy="3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C</a:t>
            </a:r>
            <a:r>
              <a:rPr lang="en-GB" sz="1400"/>
              <a:t>ualquier *nix puede utilizarse gráficamente como otros sistemas operativos a los que estamos acostumbrados. Si bien las interfaces gráficas (GUI) son bonitas tienen algunas limitaciones: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        Costosas de programar: una herramienta gráfica suele ser más compleja que una que no.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        </a:t>
            </a:r>
            <a:r>
              <a:rPr lang="en-GB" sz="1400"/>
              <a:t>Limitadas en configuración: hay opciones a las que no se accede porque hacerlas públicas implica un costo de desarrollo adicional.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        </a:t>
            </a:r>
            <a:r>
              <a:rPr lang="en-GB" sz="1400"/>
              <a:t>No automatizables: con una GUI hay que interactuar, muchas veces queremos automatizar las tareas.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        </a:t>
            </a:r>
            <a:r>
              <a:rPr lang="en-GB" sz="1400"/>
              <a:t>No interconectables: no hay modo de comunicar una aplicación con otra.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/>
              <a:t>La filosofía de *nix es tener sólidos </a:t>
            </a:r>
            <a:r>
              <a:rPr i="1" lang="en-GB" sz="1400"/>
              <a:t>backends </a:t>
            </a:r>
            <a:r>
              <a:rPr lang="en-GB" sz="1400"/>
              <a:t>y construir </a:t>
            </a:r>
            <a:r>
              <a:rPr i="1" lang="en-GB" sz="1400"/>
              <a:t>frontends </a:t>
            </a:r>
            <a:r>
              <a:rPr lang="en-GB" sz="1400"/>
              <a:t>accesorios. Un programa hace una única cosa y la hace bien.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Terminología: Consola/Terminal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297500" y="1567550"/>
            <a:ext cx="34746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Originalmente eran equipos físicos dedicados únicamente para interactuar con un </a:t>
            </a:r>
            <a:r>
              <a:rPr lang="en-GB" sz="1800"/>
              <a:t>único</a:t>
            </a:r>
            <a:r>
              <a:rPr lang="en-GB" sz="1800"/>
              <a:t> Sistema Operativo central.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/>
              <a:t>Hoy en día es provisto por el Kernel del SO como un software el cual tiene mapeada la entrada desde el teclado y la salida por la pantalla de texto.</a:t>
            </a:r>
            <a:endParaRPr sz="1800"/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800" y="1507750"/>
            <a:ext cx="4067100" cy="3284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Terminología: Shell</a:t>
            </a:r>
            <a:endParaRPr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297500" y="1215300"/>
            <a:ext cx="7146300" cy="23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 un programa que procesa comandos (que generalmente incluyen ejecutar otros programas), permite combinarlos y hacer operaciones complejas para obtener resultados complejos.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/>
              <a:t>Es un intérprete de línea de comando.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/>
              <a:t>Permite interactuar con </a:t>
            </a:r>
            <a:r>
              <a:rPr i="1" lang="en-GB" sz="1800"/>
              <a:t>Interfaces</a:t>
            </a:r>
            <a:r>
              <a:rPr lang="en-GB" sz="1800"/>
              <a:t> de línea de comando (llamados </a:t>
            </a:r>
            <a:r>
              <a:rPr b="1" lang="en-GB" sz="1800"/>
              <a:t>CLI</a:t>
            </a:r>
            <a:r>
              <a:rPr lang="en-GB" sz="1800"/>
              <a:t>) de los programas.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Terminología: Archivos y Directorios</a:t>
            </a:r>
            <a:endParaRPr/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1297500" y="1215300"/>
            <a:ext cx="76338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Los </a:t>
            </a:r>
            <a:r>
              <a:rPr b="1" lang="en-GB" sz="1500"/>
              <a:t>archivos </a:t>
            </a:r>
            <a:r>
              <a:rPr lang="en-GB" sz="1500"/>
              <a:t>son las unidades de información que se almacenan.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Los </a:t>
            </a:r>
            <a:r>
              <a:rPr b="1" lang="en-GB" sz="1500"/>
              <a:t>directorios </a:t>
            </a:r>
            <a:r>
              <a:rPr lang="en-GB" sz="1500"/>
              <a:t>son estructuras organizacionales que pueden contener archivos o directorios.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En Unix todos los directorios penden del directorio </a:t>
            </a:r>
            <a:r>
              <a:rPr lang="en-GB" sz="1500"/>
              <a:t>raíz</a:t>
            </a:r>
            <a:r>
              <a:rPr lang="en-GB" sz="1500"/>
              <a:t> ( </a:t>
            </a:r>
            <a:r>
              <a:rPr lang="en-GB" sz="15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GB" sz="1500"/>
              <a:t> ) (no existe el concepto de unidad).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No hay restricción para los nombres de archivos y directorios, no existe el concepto de extensión en los archivos, los nombres son sensibles a mayúsculas/minúsculas.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Los directorios se separan por la barra (por ejemplo /home/usuario/arch.txt ).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Cada usuario tiene un directorio personal (puede accederse a él como </a:t>
            </a:r>
            <a:r>
              <a:rPr lang="en-GB" sz="15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~</a:t>
            </a:r>
            <a:r>
              <a:rPr lang="en-GB" sz="1500"/>
              <a:t> ).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lang="en-GB" sz="1500"/>
              <a:t>Todo directorio tiene un directorio que es un enlace a su padre ( </a:t>
            </a:r>
            <a:r>
              <a:rPr lang="en-GB" sz="15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..</a:t>
            </a:r>
            <a:r>
              <a:rPr lang="en-GB" sz="1500"/>
              <a:t> ) y a sí mismo ( </a:t>
            </a:r>
            <a:r>
              <a:rPr lang="en-GB" sz="15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500"/>
              <a:t> ).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1297500" y="1567550"/>
            <a:ext cx="7038900" cy="16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Todo archivo (o directorio) tiene un </a:t>
            </a:r>
            <a:r>
              <a:rPr i="1" lang="en-GB"/>
              <a:t>path </a:t>
            </a:r>
            <a:r>
              <a:rPr lang="en-GB"/>
              <a:t>dentro del sistema para identificarlo.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Path absoluto</a:t>
            </a:r>
            <a:r>
              <a:rPr lang="en-GB"/>
              <a:t>: es la jerarquía completa de directorios desde el root que determina donde está el archivo (o directorio) deseado.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Path relativo</a:t>
            </a:r>
            <a:r>
              <a:rPr lang="en-GB"/>
              <a:t>: es la jerarquía de directorios basada en el directorio actual (del shell por ejemplo) para llegar hasta el archivo (o directorio) deseado.</a:t>
            </a:r>
            <a:endParaRPr/>
          </a:p>
        </p:txBody>
      </p:sp>
      <p:sp>
        <p:nvSpPr>
          <p:cNvPr id="181" name="Google Shape;181;p20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Terminología: Archivos y Directorios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Comandos</a:t>
            </a:r>
            <a:endParaRPr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1297500" y="1042200"/>
            <a:ext cx="70389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 comunicarnos con la consola tenemos que introducir comandos y presionar enter (también llamado salto de línea).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Los comandos muchas veces aceptan opciones y argumentos.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Prácticamente cualquier terminal moderna autocompleta apretando tabulación, mantiene un historial de comandos (flechita hacia arriba) y posee un buscador hacia atrás (Ctrl+R)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Ejemplos:</a:t>
            </a:r>
            <a:endParaRPr>
              <a:solidFill>
                <a:srgbClr val="009000"/>
              </a:solidFill>
              <a:highlight>
                <a:srgbClr val="999999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1297500" y="3063900"/>
            <a:ext cx="3512700" cy="1765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$ python</a:t>
            </a:r>
            <a:endParaRPr sz="1300">
              <a:solidFill>
                <a:schemeClr val="lt1"/>
              </a:solidFill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$ python -h</a:t>
            </a:r>
            <a:endParaRPr sz="1300">
              <a:solidFill>
                <a:schemeClr val="lt1"/>
              </a:solidFill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$ python --help</a:t>
            </a:r>
            <a:endParaRPr sz="1300">
              <a:solidFill>
                <a:schemeClr val="lt1"/>
              </a:solidFill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$ python archivo.py argumento</a:t>
            </a:r>
            <a:endParaRPr sz="1300">
              <a:solidFill>
                <a:schemeClr val="lt1"/>
              </a:solidFill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$ python -i archivo.py </a:t>
            </a:r>
            <a:r>
              <a:rPr lang="en-GB" sz="1300">
                <a:solidFill>
                  <a:schemeClr val="lt1"/>
                </a:solidFill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argumento</a:t>
            </a:r>
            <a:endParaRPr sz="1300">
              <a:solidFill>
                <a:schemeClr val="lt1"/>
              </a:solidFill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$ python -c codigo</a:t>
            </a:r>
            <a:endParaRPr sz="1300">
              <a:solidFill>
                <a:schemeClr val="lt1"/>
              </a:solidFill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300">
              <a:solidFill>
                <a:schemeClr val="lt1"/>
              </a:solidFill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Navegación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1297500" y="1089850"/>
            <a:ext cx="7038900" cy="3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cd</a:t>
            </a:r>
            <a:r>
              <a:rPr lang="en-GB" sz="1400"/>
              <a:t> </a:t>
            </a:r>
            <a:r>
              <a:rPr lang="en-GB" sz="1400"/>
              <a:t>- navegar o moverse entre directorios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	</a:t>
            </a:r>
            <a:r>
              <a:rPr lang="en-GB" sz="14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cd ..</a:t>
            </a:r>
            <a:r>
              <a:rPr lang="en-GB" sz="1400"/>
              <a:t> irá al directorio padre siempre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	</a:t>
            </a:r>
            <a:r>
              <a:rPr lang="en-GB" sz="14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cd</a:t>
            </a:r>
            <a:r>
              <a:rPr lang="en-GB" sz="1400"/>
              <a:t> sin argumentos irá al home del usuario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pwd</a:t>
            </a:r>
            <a:r>
              <a:rPr lang="en-GB" sz="1400"/>
              <a:t> - muestra el path absoluto al directorio actual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ls &lt;path&gt;</a:t>
            </a:r>
            <a:r>
              <a:rPr lang="en-GB" sz="1400"/>
              <a:t> - lista archivos y directorios en el directorio pasado, si no, en el actual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	</a:t>
            </a:r>
            <a:r>
              <a:rPr lang="en-GB" sz="14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-l</a:t>
            </a:r>
            <a:r>
              <a:rPr lang="en-GB" sz="1400"/>
              <a:t> Incluye detalles.</a:t>
            </a:r>
            <a:endParaRPr sz="14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-h</a:t>
            </a:r>
            <a:r>
              <a:rPr lang="en-GB" sz="1400"/>
              <a:t> Expresa las cantidades en formato entendible.</a:t>
            </a:r>
            <a:endParaRPr sz="14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-t</a:t>
            </a:r>
            <a:r>
              <a:rPr lang="en-GB" sz="1400"/>
              <a:t> Ordena por fecha de modificación.</a:t>
            </a:r>
            <a:endParaRPr sz="14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-a</a:t>
            </a:r>
            <a:r>
              <a:rPr lang="en-GB" sz="1400"/>
              <a:t> Muestra </a:t>
            </a:r>
            <a:r>
              <a:rPr i="1" lang="en-GB" sz="1400"/>
              <a:t>archivos ocultos</a:t>
            </a:r>
            <a:r>
              <a:rPr lang="en-GB" sz="1400"/>
              <a:t>.</a:t>
            </a:r>
            <a:endParaRPr sz="1400"/>
          </a:p>
        </p:txBody>
      </p:sp>
      <p:sp>
        <p:nvSpPr>
          <p:cNvPr id="195" name="Google Shape;195;p22"/>
          <p:cNvSpPr txBox="1"/>
          <p:nvPr/>
        </p:nvSpPr>
        <p:spPr>
          <a:xfrm>
            <a:off x="6026475" y="1217125"/>
            <a:ext cx="26529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 Cuidado con los nombres con espacio o caracteres especiales (escapar)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Manejo de Archivos</a:t>
            </a:r>
            <a:endParaRPr/>
          </a:p>
        </p:txBody>
      </p:sp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1297500" y="1567550"/>
            <a:ext cx="7604700" cy="19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cat &lt;archivo&gt;</a:t>
            </a:r>
            <a:r>
              <a:rPr lang="en-GB"/>
              <a:t> - muestra por pantalla el contenido de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&lt;archivo&gt;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rm &lt;archivo&gt;</a:t>
            </a:r>
            <a:r>
              <a:rPr lang="en-GB"/>
              <a:t> - elimina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&lt;archivo&gt;</a:t>
            </a:r>
            <a:r>
              <a:rPr lang="en-GB"/>
              <a:t> del disco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touch &lt;archivo&gt;</a:t>
            </a:r>
            <a:r>
              <a:rPr lang="en-GB"/>
              <a:t> - crea un nuevo archivo en el directorio actual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mv &lt;archivo&gt; &lt;destino&gt;</a:t>
            </a:r>
            <a:r>
              <a:rPr lang="en-GB"/>
              <a:t> - mueve (y renombra)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&lt;archivo&gt;</a:t>
            </a:r>
            <a:r>
              <a:rPr lang="en-GB"/>
              <a:t> al archivo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&lt;destino&gt;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cp &lt;archivo&gt; &lt;destino&gt;</a:t>
            </a:r>
            <a:r>
              <a:rPr lang="en-GB"/>
              <a:t> - crea un nuevo archivo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&lt;destino&gt;</a:t>
            </a:r>
            <a:r>
              <a:rPr lang="en-GB"/>
              <a:t> con el mismo contenido de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&lt;archivo&gt;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Manejo de Directorios</a:t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1297500" y="1567550"/>
            <a:ext cx="7038900" cy="32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mkdir &lt;directorio&gt;</a:t>
            </a:r>
            <a:r>
              <a:rPr lang="en-GB"/>
              <a:t> - crea un nuevo directorio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rmdir &lt;directorio&gt;</a:t>
            </a:r>
            <a:r>
              <a:rPr lang="en-GB"/>
              <a:t> - elimina el directorio (tiene que estar vacío)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rm -r &lt;directorio&gt;</a:t>
            </a:r>
            <a:r>
              <a:rPr lang="en-GB"/>
              <a:t> - elimina recursivamente todo el contenido (archivos y directorios) dentro de &lt;directorio&gt;, incluyéndolo.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mv &lt;directorio&gt; &lt;destino&gt;</a:t>
            </a:r>
            <a:r>
              <a:rPr lang="en-GB"/>
              <a:t> - </a:t>
            </a:r>
            <a:r>
              <a:rPr lang="en-GB"/>
              <a:t>mueve (y renombra)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&lt;directorio&gt;</a:t>
            </a:r>
            <a:r>
              <a:rPr lang="en-GB"/>
              <a:t> al path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&lt;destino&gt;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cp -r &lt;directorio&gt; &lt;destino&gt;</a:t>
            </a:r>
            <a:r>
              <a:rPr lang="en-GB"/>
              <a:t> - </a:t>
            </a:r>
            <a:r>
              <a:rPr lang="en-GB"/>
              <a:t> crea un nuevo directorio en el path &lt;destino&gt; y copia recursivamente todo el contenido de &lt;directorio&gt; en él.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Comodines</a:t>
            </a:r>
            <a:endParaRPr/>
          </a:p>
        </p:txBody>
      </p:sp>
      <p:sp>
        <p:nvSpPr>
          <p:cNvPr id="213" name="Google Shape;213;p25"/>
          <p:cNvSpPr txBox="1"/>
          <p:nvPr>
            <p:ph idx="1" type="body"/>
          </p:nvPr>
        </p:nvSpPr>
        <p:spPr>
          <a:xfrm>
            <a:off x="1297500" y="1176700"/>
            <a:ext cx="7038900" cy="3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Sirven para generar expresiones que apliquen sobre uno o más archivos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Utilizando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en-GB"/>
              <a:t> se quiere decir cualquier carácter una única vez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Utilizando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GB"/>
              <a:t> se quiere decir cualquier carácter ninguna o múltiples veces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Si quiero indicar que es un número, puedo decir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[0-9]</a:t>
            </a:r>
            <a:endParaRPr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Si quiero indicar que es una letra puedo decir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[a-zA-Z]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El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**</a:t>
            </a:r>
            <a:r>
              <a:rPr lang="en-GB"/>
              <a:t> se usa para referenciar directorios recursivamente.</a:t>
            </a:r>
            <a:endParaRPr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Ejemplo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*.txt</a:t>
            </a:r>
            <a:r>
              <a:rPr lang="en-GB"/>
              <a:t> quiere decir “todos los archivos/directorios que terminen con .txt ” (no olvidarse de que en *nix no existe el concepto de extensión)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Test?.txt</a:t>
            </a:r>
            <a:r>
              <a:rPr lang="en-GB"/>
              <a:t> incluye a “todos los archivos cuyo nombre sea Test&lt;un caracter cualquiera&gt;.txt” (notar que excluye a Test.txt y Testxx.txt)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Permisos y Ejecución</a:t>
            </a:r>
            <a:endParaRPr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1297500" y="1360675"/>
            <a:ext cx="7296000" cy="26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Todos los archivos tienen un autor y un </a:t>
            </a:r>
            <a:r>
              <a:rPr lang="en-GB"/>
              <a:t>grupo de pertenencia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Pueden definirse permisos para el autor, los miembros del grupo o los demás por separado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Un archivo es ejecutable si (es un archivo especial y además) tiene permisos de ejecución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Pueden dársele permisos de ejecución a un </a:t>
            </a:r>
            <a:r>
              <a:rPr lang="en-GB"/>
              <a:t>archivo</a:t>
            </a:r>
            <a:r>
              <a:rPr lang="en-GB"/>
              <a:t> con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chmod +x &lt;archivo&gt;</a:t>
            </a:r>
            <a:r>
              <a:rPr lang="en-GB"/>
              <a:t> 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Si un archivo es de texto, que sea ejecutable lo convierte en un script, el OS va a ejecutar el archivo línea por línea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lang="en-GB"/>
              <a:t>El directorio actual (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/>
              <a:t> ) no forma parte del path, para ejecutar un archivo local hace falta escribir la ruta explícitamente: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./archivoejecutable</a:t>
            </a:r>
            <a:endParaRPr/>
          </a:p>
        </p:txBody>
      </p:sp>
      <p:sp>
        <p:nvSpPr>
          <p:cNvPr id="220" name="Google Shape;220;p26"/>
          <p:cNvSpPr txBox="1"/>
          <p:nvPr/>
        </p:nvSpPr>
        <p:spPr>
          <a:xfrm>
            <a:off x="2807250" y="4463175"/>
            <a:ext cx="401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más información sobre manejo de permisos </a:t>
            </a:r>
            <a:r>
              <a:rPr lang="en-GB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link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Comunicación entre Procesos</a:t>
            </a:r>
            <a:endParaRPr/>
          </a:p>
        </p:txBody>
      </p:sp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1297500" y="1196000"/>
            <a:ext cx="7194600" cy="3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Todos los procesos tienen abierto un flujo de entrada (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stdin</a:t>
            </a:r>
            <a:r>
              <a:rPr lang="en-GB"/>
              <a:t> ) y dos de salida (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stdout</a:t>
            </a:r>
            <a:r>
              <a:rPr lang="en-GB"/>
              <a:t> ,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stderr</a:t>
            </a:r>
            <a:r>
              <a:rPr lang="en-GB"/>
              <a:t> 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stdin</a:t>
            </a:r>
            <a:r>
              <a:rPr lang="en-GB"/>
              <a:t> suele estar asociado al teclado y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stdout</a:t>
            </a:r>
            <a:r>
              <a:rPr lang="en-GB"/>
              <a:t> a la pantalla.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Los programas pueden encadenarse para que un programa tome como entrada la salida de otro programa o para que vuelque su salida a un archivo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programa &gt; archivo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programa 2&gt; archivo</a:t>
            </a:r>
            <a:endParaRPr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El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archivo</a:t>
            </a:r>
            <a:r>
              <a:rPr lang="en-GB"/>
              <a:t> se crea si no existe y se sobreescribe si ya existía (se borra el contenido y se coloca lo nuevo).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programa &gt;&gt; archivo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Agrega al final de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archivo</a:t>
            </a:r>
            <a:r>
              <a:rPr lang="en-GB"/>
              <a:t> la salida por stdout de programa (crea el archivo si no existe)</a:t>
            </a:r>
            <a:endParaRPr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" name="Google Shape;227;p27"/>
          <p:cNvSpPr txBox="1"/>
          <p:nvPr/>
        </p:nvSpPr>
        <p:spPr>
          <a:xfrm>
            <a:off x="4713275" y="2571750"/>
            <a:ext cx="27420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Vuelca el stdout en un archivo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4724400" y="2969400"/>
            <a:ext cx="27420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Vuelca el stderr en un archivo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Piping</a:t>
            </a:r>
            <a:endParaRPr/>
          </a:p>
        </p:txBody>
      </p:sp>
      <p:sp>
        <p:nvSpPr>
          <p:cNvPr id="234" name="Google Shape;234;p28"/>
          <p:cNvSpPr txBox="1"/>
          <p:nvPr>
            <p:ph idx="1" type="body"/>
          </p:nvPr>
        </p:nvSpPr>
        <p:spPr>
          <a:xfrm>
            <a:off x="1297500" y="1567550"/>
            <a:ext cx="73731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Podemos volver el stdout de un programa en el stdin de otro usando el operador “pipe”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endParaRPr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programa1 | programa2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De esta manera, el stdout del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programa1</a:t>
            </a:r>
            <a:r>
              <a:rPr lang="en-GB"/>
              <a:t> será la entrada que el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programa2</a:t>
            </a:r>
            <a:r>
              <a:rPr lang="en-GB"/>
              <a:t> utilice para procesar. (Y la mayoría de los comandos, si no reciben sus argumentos por línea de comando,, esperan recibirlos del stdin.)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El resultado de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programa1</a:t>
            </a:r>
            <a:r>
              <a:rPr lang="en-GB"/>
              <a:t> nunca se muestra al usuario y </a:t>
            </a:r>
            <a:r>
              <a:rPr b="1" lang="en-GB"/>
              <a:t>nunca se guarda en disco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Piping VS Redirecci</a:t>
            </a:r>
            <a:r>
              <a:rPr lang="en-GB"/>
              <a:t>ón</a:t>
            </a:r>
            <a:r>
              <a:rPr lang="en-GB"/>
              <a:t> visualizado</a:t>
            </a:r>
            <a:endParaRPr/>
          </a:p>
        </p:txBody>
      </p:sp>
      <p:grpSp>
        <p:nvGrpSpPr>
          <p:cNvPr id="240" name="Google Shape;240;p29"/>
          <p:cNvGrpSpPr/>
          <p:nvPr/>
        </p:nvGrpSpPr>
        <p:grpSpPr>
          <a:xfrm>
            <a:off x="5068950" y="1209950"/>
            <a:ext cx="3171600" cy="3361849"/>
            <a:chOff x="587300" y="1228025"/>
            <a:chExt cx="3171600" cy="3361849"/>
          </a:xfrm>
        </p:grpSpPr>
        <p:pic>
          <p:nvPicPr>
            <p:cNvPr id="241" name="Google Shape;241;p29" title="Screenshot_2025-03-17_at_10.23.38.png"/>
            <p:cNvPicPr preferRelativeResize="0"/>
            <p:nvPr/>
          </p:nvPicPr>
          <p:blipFill rotWithShape="1">
            <a:blip r:embed="rId3">
              <a:alphaModFix/>
            </a:blip>
            <a:srcRect b="52850" l="14637" r="48333" t="0"/>
            <a:stretch/>
          </p:blipFill>
          <p:spPr>
            <a:xfrm>
              <a:off x="772588" y="2128600"/>
              <a:ext cx="2801023" cy="24612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9"/>
            <p:cNvSpPr txBox="1"/>
            <p:nvPr/>
          </p:nvSpPr>
          <p:spPr>
            <a:xfrm>
              <a:off x="587300" y="1228025"/>
              <a:ext cx="3171600" cy="76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chemeClr val="lt1"/>
                  </a:solidFill>
                  <a:latin typeface="Consolas"/>
                  <a:ea typeface="Consolas"/>
                  <a:cs typeface="Consolas"/>
                  <a:sym typeface="Consolas"/>
                </a:rPr>
                <a:t>$ tail -n1 index.md &gt;&gt; tail.txt</a:t>
              </a:r>
              <a:endParaRPr b="1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-GB" sz="1300">
                  <a:solidFill>
                    <a:schemeClr val="lt1"/>
                  </a:solidFill>
                  <a:latin typeface="Consolas"/>
                  <a:ea typeface="Consolas"/>
                  <a:cs typeface="Consolas"/>
                  <a:sym typeface="Consolas"/>
                </a:rPr>
                <a:t>$ wc tail.txt</a:t>
              </a:r>
              <a:endParaRPr b="1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43" name="Google Shape;243;p29"/>
          <p:cNvGrpSpPr/>
          <p:nvPr/>
        </p:nvGrpSpPr>
        <p:grpSpPr>
          <a:xfrm>
            <a:off x="1400825" y="1209950"/>
            <a:ext cx="2538701" cy="3361849"/>
            <a:chOff x="4780100" y="1228025"/>
            <a:chExt cx="2538701" cy="3361849"/>
          </a:xfrm>
        </p:grpSpPr>
        <p:pic>
          <p:nvPicPr>
            <p:cNvPr id="244" name="Google Shape;244;p29" title="Screenshot_2025-03-17_at_10.23.38.png"/>
            <p:cNvPicPr preferRelativeResize="0"/>
            <p:nvPr/>
          </p:nvPicPr>
          <p:blipFill rotWithShape="1">
            <a:blip r:embed="rId3">
              <a:alphaModFix/>
            </a:blip>
            <a:srcRect b="52850" l="52983" r="13454" t="0"/>
            <a:stretch/>
          </p:blipFill>
          <p:spPr>
            <a:xfrm>
              <a:off x="4780100" y="2128600"/>
              <a:ext cx="2538701" cy="24612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9"/>
            <p:cNvSpPr txBox="1"/>
            <p:nvPr/>
          </p:nvSpPr>
          <p:spPr>
            <a:xfrm>
              <a:off x="4780150" y="1228025"/>
              <a:ext cx="25386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n-GB" sz="1300">
                  <a:solidFill>
                    <a:schemeClr val="lt1"/>
                  </a:solidFill>
                  <a:latin typeface="Consolas"/>
                  <a:ea typeface="Consolas"/>
                  <a:cs typeface="Consolas"/>
                  <a:sym typeface="Consolas"/>
                </a:rPr>
                <a:t>$ tail -n1 index.md | wc</a:t>
              </a:r>
              <a:endParaRPr b="1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Ayuda</a:t>
            </a:r>
            <a:endParaRPr/>
          </a:p>
        </p:txBody>
      </p:sp>
      <p:sp>
        <p:nvSpPr>
          <p:cNvPr id="251" name="Google Shape;251;p30"/>
          <p:cNvSpPr txBox="1"/>
          <p:nvPr>
            <p:ph idx="1" type="body"/>
          </p:nvPr>
        </p:nvSpPr>
        <p:spPr>
          <a:xfrm>
            <a:off x="1297500" y="1314125"/>
            <a:ext cx="7038900" cy="22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 mayor parte de los programas tienen diferentes niveles de ayuda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programa --help</a:t>
            </a:r>
            <a:r>
              <a:rPr lang="en-GB"/>
              <a:t> muestra la ayuda corta/simple de uso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man programa</a:t>
            </a:r>
            <a:r>
              <a:rPr lang="en-GB"/>
              <a:t> muestra la página de manual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info programa</a:t>
            </a:r>
            <a:r>
              <a:rPr lang="en-GB"/>
              <a:t> ídem anterior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apropos palabra</a:t>
            </a:r>
            <a:r>
              <a:rPr lang="en-GB"/>
              <a:t> busca la palabra en todas las páginas de manual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En el archivo/directorio 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/usr/share/doc/programa</a:t>
            </a:r>
            <a:r>
              <a:rPr lang="en-GB"/>
              <a:t> puede haber documentación adicional</a:t>
            </a:r>
            <a:endParaRPr/>
          </a:p>
        </p:txBody>
      </p:sp>
      <p:sp>
        <p:nvSpPr>
          <p:cNvPr id="252" name="Google Shape;252;p30"/>
          <p:cNvSpPr txBox="1"/>
          <p:nvPr/>
        </p:nvSpPr>
        <p:spPr>
          <a:xfrm>
            <a:off x="6524350" y="2034225"/>
            <a:ext cx="23235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*Para buscar dentro de la información que muestra man, usamos /palabra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Otros comandos útiles</a:t>
            </a:r>
            <a:endParaRPr/>
          </a:p>
        </p:txBody>
      </p:sp>
      <p:sp>
        <p:nvSpPr>
          <p:cNvPr id="258" name="Google Shape;258;p31"/>
          <p:cNvSpPr txBox="1"/>
          <p:nvPr>
            <p:ph idx="1" type="body"/>
          </p:nvPr>
        </p:nvSpPr>
        <p:spPr>
          <a:xfrm>
            <a:off x="1297500" y="1408000"/>
            <a:ext cx="7038900" cy="29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find &lt;directorio&gt; &lt;opciones&gt; &lt;sentencia&gt;</a:t>
            </a:r>
            <a:r>
              <a:rPr lang="en-GB"/>
              <a:t> - comando para buscar archivos recursivamente en un directorio.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echo &lt;sentencia&gt;</a:t>
            </a:r>
            <a:r>
              <a:rPr lang="en-GB"/>
              <a:t> - muestra por stdout &lt;sentencia&gt; (se puede redireccionar para guardar en un archivo o como input de otro programa).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diff &lt;archivo1&gt; &lt;archivo2&gt;</a:t>
            </a:r>
            <a:r>
              <a:rPr lang="en-GB"/>
              <a:t> - muestra por stdout linea por linea la diferencia entre los archivos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wc &lt;archivo&gt;</a:t>
            </a:r>
            <a:r>
              <a:rPr lang="en-GB"/>
              <a:t> - devuelve la cantidad de líneas, palabras y bytes de un archivo por defecto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history</a:t>
            </a:r>
            <a:r>
              <a:rPr lang="en-GB"/>
              <a:t> - muestra el historial de comandos ingresados en la consola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clear</a:t>
            </a:r>
            <a:r>
              <a:rPr lang="en-GB"/>
              <a:t> </a:t>
            </a:r>
            <a:r>
              <a:rPr lang="en-GB"/>
              <a:t>- limpia la consola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Manejador de Paquetes</a:t>
            </a:r>
            <a:endParaRPr/>
          </a:p>
        </p:txBody>
      </p:sp>
      <p:sp>
        <p:nvSpPr>
          <p:cNvPr id="264" name="Google Shape;264;p32"/>
          <p:cNvSpPr txBox="1"/>
          <p:nvPr>
            <p:ph idx="1" type="body"/>
          </p:nvPr>
        </p:nvSpPr>
        <p:spPr>
          <a:xfrm>
            <a:off x="1297500" y="1135800"/>
            <a:ext cx="7038900" cy="21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 un programa cuyo fin es organizar "paquetes" (bibliotecas y otros programas) de un sistema.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	Una biblioteca es una colección de utilidades (funciones, variables, etc.) que pueden ser usadas por programas.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apt</a:t>
            </a:r>
            <a:r>
              <a:rPr lang="en-GB"/>
              <a:t> es el package manager de Ubuntu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brew</a:t>
            </a:r>
            <a:r>
              <a:rPr lang="en-GB"/>
              <a:t> es el package manager de macOS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idx="1" type="body"/>
          </p:nvPr>
        </p:nvSpPr>
        <p:spPr>
          <a:xfrm>
            <a:off x="1297500" y="1262750"/>
            <a:ext cx="34032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/>
              <a:t>apt</a:t>
            </a:r>
            <a:endParaRPr b="1"/>
          </a:p>
        </p:txBody>
      </p:sp>
      <p:sp>
        <p:nvSpPr>
          <p:cNvPr id="270" name="Google Shape;270;p33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Manejador de Paquetes</a:t>
            </a:r>
            <a:endParaRPr/>
          </a:p>
        </p:txBody>
      </p:sp>
      <p:sp>
        <p:nvSpPr>
          <p:cNvPr id="271" name="Google Shape;271;p33"/>
          <p:cNvSpPr txBox="1"/>
          <p:nvPr>
            <p:ph idx="1" type="body"/>
          </p:nvPr>
        </p:nvSpPr>
        <p:spPr>
          <a:xfrm>
            <a:off x="5594225" y="1262750"/>
            <a:ext cx="34032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/>
              <a:t>brew</a:t>
            </a:r>
            <a:endParaRPr b="1"/>
          </a:p>
        </p:txBody>
      </p:sp>
      <p:sp>
        <p:nvSpPr>
          <p:cNvPr id="272" name="Google Shape;272;p33"/>
          <p:cNvSpPr txBox="1"/>
          <p:nvPr>
            <p:ph idx="1" type="body"/>
          </p:nvPr>
        </p:nvSpPr>
        <p:spPr>
          <a:xfrm>
            <a:off x="1297500" y="1805850"/>
            <a:ext cx="3403200" cy="27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pt update</a:t>
            </a:r>
            <a:endParaRPr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	Actualiza el índice de repositorios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apt upgrade</a:t>
            </a:r>
            <a:endParaRPr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	Instala las últimas versiones de los paquetes ya presentes en el sistema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apt install &lt;nombre&gt;</a:t>
            </a:r>
            <a:endParaRPr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	Instala el paquete/biblioteca &lt;nombre&gt; en el sistema.</a:t>
            </a:r>
            <a:endParaRPr/>
          </a:p>
        </p:txBody>
      </p:sp>
      <p:sp>
        <p:nvSpPr>
          <p:cNvPr id="273" name="Google Shape;273;p33"/>
          <p:cNvSpPr txBox="1"/>
          <p:nvPr>
            <p:ph idx="1" type="body"/>
          </p:nvPr>
        </p:nvSpPr>
        <p:spPr>
          <a:xfrm>
            <a:off x="5594225" y="1805850"/>
            <a:ext cx="26259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rew update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rew upgrade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GB"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rew install</a:t>
            </a:r>
            <a:endParaRPr/>
          </a:p>
        </p:txBody>
      </p:sp>
      <p:sp>
        <p:nvSpPr>
          <p:cNvPr id="274" name="Google Shape;274;p33"/>
          <p:cNvSpPr txBox="1"/>
          <p:nvPr/>
        </p:nvSpPr>
        <p:spPr>
          <a:xfrm>
            <a:off x="922175" y="46031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(el antiguo apt-get)</a:t>
            </a:r>
            <a:endParaRPr i="1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Sudo</a:t>
            </a:r>
            <a:endParaRPr/>
          </a:p>
        </p:txBody>
      </p:sp>
      <p:sp>
        <p:nvSpPr>
          <p:cNvPr id="280" name="Google Shape;280;p34"/>
          <p:cNvSpPr txBox="1"/>
          <p:nvPr>
            <p:ph idx="1" type="body"/>
          </p:nvPr>
        </p:nvSpPr>
        <p:spPr>
          <a:xfrm>
            <a:off x="1297500" y="947850"/>
            <a:ext cx="27090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-GB"/>
              <a:t>superuser do</a:t>
            </a:r>
            <a:endParaRPr i="1"/>
          </a:p>
        </p:txBody>
      </p:sp>
      <p:pic>
        <p:nvPicPr>
          <p:cNvPr id="281" name="Google Shape;281;p3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4875" y="1735500"/>
            <a:ext cx="342900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4"/>
          <p:cNvSpPr txBox="1"/>
          <p:nvPr/>
        </p:nvSpPr>
        <p:spPr>
          <a:xfrm>
            <a:off x="5249650" y="1683950"/>
            <a:ext cx="2779200" cy="1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Permite correr un comando en lugar de otro usuario del sistema.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Generalmente se utiliza para correr comandos en modo administrador.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"/>
          <p:cNvSpPr txBox="1"/>
          <p:nvPr>
            <p:ph type="ctrTitle"/>
          </p:nvPr>
        </p:nvSpPr>
        <p:spPr>
          <a:xfrm>
            <a:off x="3537150" y="1578400"/>
            <a:ext cx="50175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Bonus Track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Archivos de texto ejecutables</a:t>
            </a:r>
            <a:endParaRPr/>
          </a:p>
        </p:txBody>
      </p:sp>
      <p:sp>
        <p:nvSpPr>
          <p:cNvPr id="293" name="Google Shape;293;p36"/>
          <p:cNvSpPr txBox="1"/>
          <p:nvPr>
            <p:ph idx="1" type="body"/>
          </p:nvPr>
        </p:nvSpPr>
        <p:spPr>
          <a:xfrm>
            <a:off x="1297500" y="1221575"/>
            <a:ext cx="77013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Necesitamos un editor de texto para ... editar un archivo de texto.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Algunos editores conocidos: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	</a:t>
            </a:r>
            <a:r>
              <a:rPr lang="en-GB">
                <a:solidFill>
                  <a:srgbClr val="FF0000"/>
                </a:solidFill>
              </a:rPr>
              <a:t>vi/vim</a:t>
            </a:r>
            <a:r>
              <a:rPr lang="en-GB"/>
              <a:t> - clásico editor de texto incluido por defecto en todas las distribuciones de Linux y macOS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	</a:t>
            </a:r>
            <a:r>
              <a:rPr lang="en-GB">
                <a:solidFill>
                  <a:srgbClr val="FF0000"/>
                </a:solidFill>
              </a:rPr>
              <a:t>Nano</a:t>
            </a:r>
            <a:r>
              <a:rPr lang="en-GB"/>
              <a:t> - editor por defecto de macOS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	</a:t>
            </a:r>
            <a:r>
              <a:rPr lang="en-GB">
                <a:solidFill>
                  <a:srgbClr val="6AA84F"/>
                </a:solidFill>
              </a:rPr>
              <a:t>GNOME Text Editor</a:t>
            </a:r>
            <a:r>
              <a:rPr lang="en-GB"/>
              <a:t> - editor por defecto de Ubuntu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	</a:t>
            </a:r>
            <a:r>
              <a:rPr lang="en-GB">
                <a:solidFill>
                  <a:srgbClr val="FF0000"/>
                </a:solidFill>
              </a:rPr>
              <a:t>Emacs</a:t>
            </a:r>
            <a:r>
              <a:rPr lang="en-GB"/>
              <a:t> - editor de texto muy poderoso que permite integrar casi cualquier flujo de trabajo en él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	</a:t>
            </a:r>
            <a:r>
              <a:rPr lang="en-GB">
                <a:solidFill>
                  <a:srgbClr val="6AA84F"/>
                </a:solidFill>
              </a:rPr>
              <a:t>Visual Studio Code</a:t>
            </a:r>
            <a:r>
              <a:rPr lang="en-GB"/>
              <a:t> - editor de texto más usado hoy en día (es más que un editor de texto, es un </a:t>
            </a:r>
            <a:r>
              <a:rPr i="1" lang="en-GB"/>
              <a:t>IDE </a:t>
            </a:r>
            <a:r>
              <a:rPr lang="en-GB"/>
              <a:t>(Entorno de Desarrollo Integrado) lo que hace que tenga </a:t>
            </a:r>
            <a:r>
              <a:rPr lang="en-GB"/>
              <a:t>más</a:t>
            </a:r>
            <a:r>
              <a:rPr lang="en-GB"/>
              <a:t> funcionalidades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Manejo del sistema</a:t>
            </a:r>
            <a:endParaRPr/>
          </a:p>
        </p:txBody>
      </p:sp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1297500" y="1221575"/>
            <a:ext cx="7701300" cy="19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Hay gran cantidad de comandos que permiten interactuar y cambiar cosas del sistema operativo: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Manejo de Procesos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ps: Lista todos los procesos activos con nombre y PID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ps aux: lista todos los procesos, incluyendo los que est</a:t>
            </a:r>
            <a:r>
              <a:rPr lang="en-GB"/>
              <a:t>án corriendo en background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kill &lt;pid&gt;: termina un proceso puntual</a:t>
            </a:r>
            <a:endParaRPr/>
          </a:p>
        </p:txBody>
      </p:sp>
      <p:sp>
        <p:nvSpPr>
          <p:cNvPr id="300" name="Google Shape;300;p37"/>
          <p:cNvSpPr txBox="1"/>
          <p:nvPr/>
        </p:nvSpPr>
        <p:spPr>
          <a:xfrm>
            <a:off x="828375" y="3186050"/>
            <a:ext cx="770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Ejercicio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encontrar un proceso a partir de su nombre y terminar su ejecución.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Services</a:t>
            </a:r>
            <a:endParaRPr/>
          </a:p>
        </p:txBody>
      </p:sp>
      <p:sp>
        <p:nvSpPr>
          <p:cNvPr id="306" name="Google Shape;306;p38"/>
          <p:cNvSpPr txBox="1"/>
          <p:nvPr>
            <p:ph idx="1" type="body"/>
          </p:nvPr>
        </p:nvSpPr>
        <p:spPr>
          <a:xfrm>
            <a:off x="1297500" y="947850"/>
            <a:ext cx="7701300" cy="8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Hay programas que se corren autom</a:t>
            </a:r>
            <a:r>
              <a:rPr lang="en-GB"/>
              <a:t>áticamente cuando el SO inicia. A éstos se les llama </a:t>
            </a:r>
            <a:r>
              <a:rPr i="1" lang="en-GB"/>
              <a:t>services</a:t>
            </a:r>
            <a:r>
              <a:rPr lang="en-GB"/>
              <a:t>. La distribución del SO que usemos va a incorporar sus propios services, pero nosotros podemos hacer los nuestros propios.</a:t>
            </a:r>
            <a:endParaRPr/>
          </a:p>
        </p:txBody>
      </p:sp>
      <p:sp>
        <p:nvSpPr>
          <p:cNvPr id="307" name="Google Shape;307;p38"/>
          <p:cNvSpPr txBox="1"/>
          <p:nvPr/>
        </p:nvSpPr>
        <p:spPr>
          <a:xfrm>
            <a:off x="612625" y="1858525"/>
            <a:ext cx="7038900" cy="26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 Linux, los services son para systemd y tienen el siguiente formato: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[Unit]</a:t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Contiene una breve descripción del servicio y condiciones sobre la ejecución del mismo (qué debe pasar antes y/o después).</a:t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[Service]</a:t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Lógica del servicio a ejecutar, qué comandos y cómo se van a correr</a:t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[Install]</a:t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Cuándo se va a correr el servicio</a:t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Services: ejemplo linux</a:t>
            </a:r>
            <a:endParaRPr/>
          </a:p>
        </p:txBody>
      </p:sp>
      <p:sp>
        <p:nvSpPr>
          <p:cNvPr id="313" name="Google Shape;313;p39"/>
          <p:cNvSpPr txBox="1"/>
          <p:nvPr>
            <p:ph idx="1" type="body"/>
          </p:nvPr>
        </p:nvSpPr>
        <p:spPr>
          <a:xfrm>
            <a:off x="1297500" y="947850"/>
            <a:ext cx="77013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Hagamos un servicio que al iniciar el SO escriba en un archivo de logs el uso de disco y memoria</a:t>
            </a:r>
            <a:endParaRPr/>
          </a:p>
        </p:txBody>
      </p:sp>
      <p:sp>
        <p:nvSpPr>
          <p:cNvPr id="314" name="Google Shape;314;p39"/>
          <p:cNvSpPr txBox="1"/>
          <p:nvPr/>
        </p:nvSpPr>
        <p:spPr>
          <a:xfrm>
            <a:off x="262175" y="1460275"/>
            <a:ext cx="4028400" cy="28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Hagamos primero un script de bash con lo que queremos correr: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LOGFILE</a:t>
            </a:r>
            <a:r>
              <a:rPr lang="en-GB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"/var/log/system_health.log"</a:t>
            </a:r>
            <a:endParaRPr sz="1000">
              <a:solidFill>
                <a:srgbClr val="CE917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lang="en-GB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$(</a:t>
            </a:r>
            <a:r>
              <a:rPr lang="en-GB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'+%Y-%m-%d %H:%M:%S'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echo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"===== System Health at </a:t>
            </a: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$DATE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====="</a:t>
            </a:r>
            <a:endParaRPr sz="1000">
              <a:solidFill>
                <a:srgbClr val="CE917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echo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"Uptime: $(</a:t>
            </a:r>
            <a:r>
              <a:rPr lang="en-GB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uptime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-p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)\n"</a:t>
            </a:r>
            <a:endParaRPr sz="1000">
              <a:solidFill>
                <a:srgbClr val="DCDCA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echo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"\n--- Memory Usage ---\n"</a:t>
            </a:r>
            <a:endParaRPr sz="1000">
              <a:solidFill>
                <a:srgbClr val="CE917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free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-h</a:t>
            </a:r>
            <a:endParaRPr sz="10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echo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"\n--- Disk Usage ---"</a:t>
            </a:r>
            <a:endParaRPr sz="1000">
              <a:solidFill>
                <a:srgbClr val="CE917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-h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endParaRPr sz="1000">
              <a:solidFill>
                <a:srgbClr val="CE917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echo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"\n===============================\n"</a:t>
            </a:r>
            <a:endParaRPr sz="1000">
              <a:solidFill>
                <a:srgbClr val="CE917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n-GB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$LOGFILE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39"/>
          <p:cNvSpPr txBox="1"/>
          <p:nvPr/>
        </p:nvSpPr>
        <p:spPr>
          <a:xfrm>
            <a:off x="4232150" y="1460275"/>
            <a:ext cx="4683600" cy="23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Ahora escribamos el servicio: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[Unit]</a:t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lang="en-GB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info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(CPU,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Memory,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Disk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After</a:t>
            </a:r>
            <a:r>
              <a:rPr lang="en-GB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network.target</a:t>
            </a:r>
            <a:endParaRPr sz="1000">
              <a:solidFill>
                <a:srgbClr val="CE917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[Service]</a:t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n-GB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oneshot</a:t>
            </a:r>
            <a:endParaRPr sz="1000">
              <a:solidFill>
                <a:srgbClr val="CE917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ExecStart</a:t>
            </a:r>
            <a:r>
              <a:rPr lang="en-GB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&lt;path&gt;/&lt;to&gt;/monitor.sh</a:t>
            </a:r>
            <a:endParaRPr sz="1000">
              <a:solidFill>
                <a:srgbClr val="CE917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[Install]</a:t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WantedBy</a:t>
            </a:r>
            <a:r>
              <a:rPr lang="en-GB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multi-user.target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" name="Google Shape;316;p39"/>
          <p:cNvSpPr txBox="1"/>
          <p:nvPr/>
        </p:nvSpPr>
        <p:spPr>
          <a:xfrm>
            <a:off x="4232150" y="3792175"/>
            <a:ext cx="4487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Debemos guardar esto en: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/etc/systemd/system/&lt;nombre&gt;.service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Google Shape;317;p39"/>
          <p:cNvSpPr txBox="1"/>
          <p:nvPr/>
        </p:nvSpPr>
        <p:spPr>
          <a:xfrm>
            <a:off x="172650" y="4598950"/>
            <a:ext cx="879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 queremos medir el uso de CPU es un poco más complejo </a:t>
            </a:r>
            <a:r>
              <a:rPr lang="en-GB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link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Services: ejemplo linux</a:t>
            </a:r>
            <a:endParaRPr/>
          </a:p>
        </p:txBody>
      </p:sp>
      <p:sp>
        <p:nvSpPr>
          <p:cNvPr id="323" name="Google Shape;323;p40"/>
          <p:cNvSpPr txBox="1"/>
          <p:nvPr>
            <p:ph idx="1" type="body"/>
          </p:nvPr>
        </p:nvSpPr>
        <p:spPr>
          <a:xfrm>
            <a:off x="1297500" y="947850"/>
            <a:ext cx="77013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Falta habilitar el servicio para que el SO lo pueda correr:</a:t>
            </a:r>
            <a:endParaRPr/>
          </a:p>
        </p:txBody>
      </p:sp>
      <p:sp>
        <p:nvSpPr>
          <p:cNvPr id="324" name="Google Shape;324;p40"/>
          <p:cNvSpPr txBox="1"/>
          <p:nvPr/>
        </p:nvSpPr>
        <p:spPr>
          <a:xfrm>
            <a:off x="562875" y="1747025"/>
            <a:ext cx="4439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$ sudo systemctl daemon-reexec</a:t>
            </a:r>
            <a:endParaRPr sz="1300">
              <a:solidFill>
                <a:schemeClr val="lt1"/>
              </a:solidFill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$ sudo systemctl enable system-health.service</a:t>
            </a:r>
            <a:endParaRPr sz="1300">
              <a:solidFill>
                <a:schemeClr val="lt1"/>
              </a:solidFill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" name="Google Shape;325;p40"/>
          <p:cNvSpPr txBox="1"/>
          <p:nvPr/>
        </p:nvSpPr>
        <p:spPr>
          <a:xfrm>
            <a:off x="589425" y="2750625"/>
            <a:ext cx="4641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Podemos correrlo en cualquier momento para comprobar cómo funciona: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FF"/>
                </a:solidFill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sudo systemctl start system-health.service</a:t>
            </a:r>
            <a:endParaRPr sz="1300">
              <a:solidFill>
                <a:srgbClr val="FFFFFF"/>
              </a:solidFill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 ver el resultado en el archivo de log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" name="Google Shape;326;p40"/>
          <p:cNvSpPr txBox="1"/>
          <p:nvPr/>
        </p:nvSpPr>
        <p:spPr>
          <a:xfrm>
            <a:off x="5527800" y="1890400"/>
            <a:ext cx="2745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Podemos hacer que esto corra periódicamente mientras el sistema esté funcionando?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/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Timers</a:t>
            </a:r>
            <a:endParaRPr/>
          </a:p>
        </p:txBody>
      </p:sp>
      <p:sp>
        <p:nvSpPr>
          <p:cNvPr id="332" name="Google Shape;332;p41"/>
          <p:cNvSpPr txBox="1"/>
          <p:nvPr>
            <p:ph idx="1" type="body"/>
          </p:nvPr>
        </p:nvSpPr>
        <p:spPr>
          <a:xfrm>
            <a:off x="1297500" y="947850"/>
            <a:ext cx="77013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Misma idea, pero se ejecutan peri</a:t>
            </a:r>
            <a:r>
              <a:rPr lang="en-GB"/>
              <a:t>ódicamente según le indiquemos</a:t>
            </a:r>
            <a:endParaRPr/>
          </a:p>
        </p:txBody>
      </p:sp>
      <p:sp>
        <p:nvSpPr>
          <p:cNvPr id="333" name="Google Shape;333;p41"/>
          <p:cNvSpPr txBox="1"/>
          <p:nvPr/>
        </p:nvSpPr>
        <p:spPr>
          <a:xfrm>
            <a:off x="604450" y="1749075"/>
            <a:ext cx="37038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nuestro ejemplo: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[Unit]</a:t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lang="en-GB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Run system health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monitor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every</a:t>
            </a: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minute</a:t>
            </a:r>
            <a:endParaRPr sz="1000">
              <a:solidFill>
                <a:srgbClr val="CE917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[Timer]</a:t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OnBootSec</a:t>
            </a:r>
            <a:r>
              <a:rPr lang="en-GB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1min</a:t>
            </a:r>
            <a:endParaRPr sz="1000">
              <a:solidFill>
                <a:srgbClr val="CE917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OnUnitActiveSec</a:t>
            </a:r>
            <a:r>
              <a:rPr lang="en-GB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1min</a:t>
            </a:r>
            <a:endParaRPr sz="1000">
              <a:solidFill>
                <a:srgbClr val="CE917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Unit</a:t>
            </a:r>
            <a:r>
              <a:rPr lang="en-GB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system-health.service</a:t>
            </a:r>
            <a:endParaRPr sz="1000">
              <a:solidFill>
                <a:srgbClr val="CE917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[Install]</a:t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WantedBy</a:t>
            </a:r>
            <a:r>
              <a:rPr lang="en-GB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timers.target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4" name="Google Shape;334;p41"/>
          <p:cNvSpPr txBox="1"/>
          <p:nvPr/>
        </p:nvSpPr>
        <p:spPr>
          <a:xfrm>
            <a:off x="4816350" y="1858375"/>
            <a:ext cx="4218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Luego lo habilitamos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highlight>
                  <a:srgbClr val="999999"/>
                </a:highlight>
                <a:latin typeface="Consolas"/>
                <a:ea typeface="Consolas"/>
                <a:cs typeface="Consolas"/>
                <a:sym typeface="Consolas"/>
              </a:rPr>
              <a:t>sudo systemctl enable --now &lt;path-to-timer&gt;.timer</a:t>
            </a:r>
            <a:endParaRPr sz="1100">
              <a:solidFill>
                <a:schemeClr val="lt1"/>
              </a:solidFill>
              <a:highlight>
                <a:srgbClr val="99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 listo, ya está funcionando.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41"/>
          <p:cNvSpPr txBox="1"/>
          <p:nvPr/>
        </p:nvSpPr>
        <p:spPr>
          <a:xfrm>
            <a:off x="4851050" y="3424650"/>
            <a:ext cx="3703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Ejercicio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modificar lo que hicimos para que si en algún momento el uso de CPU supera cierto % se emita un sonido de alerta.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 txBox="1"/>
          <p:nvPr>
            <p:ph type="ctrTitle"/>
          </p:nvPr>
        </p:nvSpPr>
        <p:spPr>
          <a:xfrm>
            <a:off x="3537150" y="1578400"/>
            <a:ext cx="50175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